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1" r:id="rId12"/>
    <p:sldId id="342" r:id="rId13"/>
    <p:sldId id="343" r:id="rId14"/>
    <p:sldId id="347" r:id="rId15"/>
    <p:sldId id="344" r:id="rId16"/>
    <p:sldId id="345" r:id="rId17"/>
    <p:sldId id="346"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1" autoAdjust="0"/>
    <p:restoredTop sz="95033" autoAdjust="0"/>
  </p:normalViewPr>
  <p:slideViewPr>
    <p:cSldViewPr snapToGrid="0">
      <p:cViewPr varScale="1">
        <p:scale>
          <a:sx n="62" d="100"/>
          <a:sy n="62" d="100"/>
        </p:scale>
        <p:origin x="816" y="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ya Dubey" userId="e4649135a960018e" providerId="LiveId" clId="{69B0F544-7751-401E-825E-C7F8ECAA9A85}"/>
    <pc:docChg chg="modSld">
      <pc:chgData name="Aarya Dubey" userId="e4649135a960018e" providerId="LiveId" clId="{69B0F544-7751-401E-825E-C7F8ECAA9A85}" dt="2026-09-20T07:49:38.692" v="2" actId="20577"/>
      <pc:docMkLst>
        <pc:docMk/>
      </pc:docMkLst>
      <pc:sldChg chg="modSp">
        <pc:chgData name="Aarya Dubey" userId="e4649135a960018e" providerId="LiveId" clId="{69B0F544-7751-401E-825E-C7F8ECAA9A85}" dt="2026-09-20T07:49:38.692" v="2" actId="20577"/>
        <pc:sldMkLst>
          <pc:docMk/>
          <pc:sldMk cId="1604013440" sldId="338"/>
        </pc:sldMkLst>
        <pc:spChg chg="mod">
          <ac:chgData name="Aarya Dubey" userId="e4649135a960018e" providerId="LiveId" clId="{69B0F544-7751-401E-825E-C7F8ECAA9A85}" dt="2026-09-20T07:49:38.692" v="2" actId="20577"/>
          <ac:spMkLst>
            <pc:docMk/>
            <pc:sldMk cId="1604013440" sldId="338"/>
            <ac:spMk id="4" creationId="{92056599-CDAA-4367-BEF8-31D6E32518C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73759" y="2794001"/>
            <a:ext cx="10444481" cy="743448"/>
          </a:xfrm>
        </p:spPr>
        <p:txBody>
          <a:bodyPr>
            <a:normAutofit fontScale="90000"/>
          </a:bodyPr>
          <a:lstStyle/>
          <a:p>
            <a:pPr algn="ctr"/>
            <a:r>
              <a:rPr lang="en-GB" b="1" dirty="0"/>
              <a:t>EDUNET VOIS FOR TECH-TIRTC AICTE DATA ANALYTICS INTERNSHIP</a:t>
            </a:r>
            <a:br>
              <a:rPr lang="en-GB" b="1" dirty="0"/>
            </a:br>
            <a:br>
              <a:rPr lang="en-GB" b="1" dirty="0"/>
            </a:br>
            <a:r>
              <a:rPr lang="en-GB" b="1" dirty="0"/>
              <a:t>Healthcare Analytics for Doctor Visits</a:t>
            </a:r>
            <a:br>
              <a:rPr lang="en-GB" b="1" dirty="0"/>
            </a:br>
            <a:r>
              <a:rPr lang="en-GB" b="1" dirty="0"/>
              <a:t>DIY Project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 Placeholder 2">
            <a:extLst>
              <a:ext uri="{FF2B5EF4-FFF2-40B4-BE49-F238E27FC236}">
                <a16:creationId xmlns:a16="http://schemas.microsoft.com/office/drawing/2014/main" id="{F26743BB-9F02-6FAB-021C-23C01D569BD7}"/>
              </a:ext>
            </a:extLst>
          </p:cNvPr>
          <p:cNvSpPr txBox="1">
            <a:spLocks noGrp="1"/>
          </p:cNvSpPr>
          <p:nvPr>
            <p:ph type="body" sz="quarter" idx="11"/>
          </p:nvPr>
        </p:nvSpPr>
        <p:spPr>
          <a:xfrm>
            <a:off x="5791201" y="5365115"/>
            <a:ext cx="6148809" cy="400110"/>
          </a:xfrm>
          <a:prstGeom prst="rect">
            <a:avLst/>
          </a:prstGeom>
          <a:noFill/>
        </p:spPr>
        <p:txBody>
          <a:bodyPr wrap="square" rtlCol="0">
            <a:spAutoFit/>
          </a:bodyPr>
          <a:lstStyle/>
          <a:p>
            <a:r>
              <a:rPr lang="en-US" dirty="0">
                <a:solidFill>
                  <a:schemeClr val="tx1"/>
                </a:solidFill>
              </a:rPr>
              <a:t>AICTE STU ID </a:t>
            </a:r>
            <a:r>
              <a:rPr lang="en-US" b="1" dirty="0">
                <a:solidFill>
                  <a:schemeClr val="accent1">
                    <a:lumMod val="50000"/>
                  </a:schemeClr>
                </a:solidFill>
              </a:rPr>
              <a:t>: </a:t>
            </a:r>
            <a:r>
              <a:rPr lang="en-IN" dirty="0">
                <a:solidFill>
                  <a:schemeClr val="accent1">
                    <a:lumMod val="50000"/>
                  </a:schemeClr>
                </a:solidFill>
              </a:rPr>
              <a:t>STU66a50c355f54d1722092597</a:t>
            </a:r>
            <a:endParaRPr lang="en-US" b="1" dirty="0">
              <a:solidFill>
                <a:schemeClr val="accent1">
                  <a:lumMod val="50000"/>
                </a:schemeClr>
              </a:solidFill>
            </a:endParaRPr>
          </a:p>
        </p:txBody>
      </p:sp>
      <p:sp>
        <p:nvSpPr>
          <p:cNvPr id="5" name="Text Placeholder 1">
            <a:extLst>
              <a:ext uri="{FF2B5EF4-FFF2-40B4-BE49-F238E27FC236}">
                <a16:creationId xmlns:a16="http://schemas.microsoft.com/office/drawing/2014/main" id="{1ABECEA6-33BA-87AF-E796-0CE38659FB03}"/>
              </a:ext>
            </a:extLst>
          </p:cNvPr>
          <p:cNvSpPr txBox="1">
            <a:spLocks/>
          </p:cNvSpPr>
          <p:nvPr/>
        </p:nvSpPr>
        <p:spPr>
          <a:xfrm>
            <a:off x="8115954" y="5795864"/>
            <a:ext cx="3400089"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IN" dirty="0">
                <a:solidFill>
                  <a:schemeClr val="tx1"/>
                </a:solidFill>
              </a:rPr>
              <a:t>Submitted by: </a:t>
            </a:r>
            <a:r>
              <a:rPr lang="en-IN" b="0" dirty="0">
                <a:solidFill>
                  <a:schemeClr val="accent1">
                    <a:lumMod val="50000"/>
                  </a:schemeClr>
                </a:solidFill>
              </a:rPr>
              <a:t>Aarya Dubey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3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240894" y="54658"/>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807981" y="4323901"/>
            <a:ext cx="2143125" cy="253409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0C1B0F6C-2B4C-5F9A-4A39-A2EAB586C71A}"/>
              </a:ext>
            </a:extLst>
          </p:cNvPr>
          <p:cNvSpPr>
            <a:spLocks noGrp="1" noChangeArrowheads="1"/>
          </p:cNvSpPr>
          <p:nvPr>
            <p:ph type="body" sz="quarter" idx="12"/>
          </p:nvPr>
        </p:nvSpPr>
        <p:spPr bwMode="auto">
          <a:xfrm>
            <a:off x="240894" y="1020596"/>
            <a:ext cx="1031066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Healthcare systems often struggle to understand what truly drives patient demand for medical consultations, making it difficult to allocate resources efficiently or identify at-risk populations before they become high-cost, high-utilization patients.</a:t>
            </a:r>
          </a:p>
          <a:p>
            <a:pPr marL="0" marR="0" lvl="0" indent="0" algn="l"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This project analyzes a healthcare survey dataset of 5,190 individuals to uncover the key demographic, socioeconomic, and health-related factors — such as chronic illness, self-rated health, income, and insurance coverage — that influence how frequently people visit a doctor.</a:t>
            </a:r>
          </a:p>
          <a:p>
            <a:pPr marL="0" marR="0" lvl="0" indent="0" algn="l" defTabSz="914400" rtl="0" eaLnBrk="0" fontAlgn="base" latinLnBrk="0" hangingPunct="0">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With doctor visits heavily skewed toward zero (the majority of individuals report no visits in the reference period), traditional analysis approaches fail to capture the true patterns of healthcare utilization, leaving policymakers, insurers, and healthcare administrators without clear, data-driven insight into who needs care most and why. </a:t>
            </a:r>
          </a:p>
          <a:p>
            <a:pPr marL="0" marR="0" lvl="0" indent="0" algn="l"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analysis aims to close that gap by identifying the strongest predictors of healthcare utilization and translating them into actionable recommendations for better resource planning, targeted care management, and more equitable healthcare access.</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26142" y="151447"/>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6105A75-082D-8E02-ADCD-EF648E97B159}"/>
              </a:ext>
            </a:extLst>
          </p:cNvPr>
          <p:cNvSpPr txBox="1"/>
          <p:nvPr/>
        </p:nvSpPr>
        <p:spPr>
          <a:xfrm>
            <a:off x="126142" y="1157296"/>
            <a:ext cx="11350093" cy="5078313"/>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This project is an end-to-end exploratory data analysis and predictive </a:t>
            </a:r>
            <a:r>
              <a:rPr lang="en-GB" dirty="0" err="1">
                <a:latin typeface="Arial" panose="020B0604020202020204" pitchFamily="34" charset="0"/>
                <a:cs typeface="Arial" panose="020B0604020202020204" pitchFamily="34" charset="0"/>
              </a:rPr>
              <a:t>modeling</a:t>
            </a:r>
            <a:r>
              <a:rPr lang="en-GB" dirty="0">
                <a:latin typeface="Arial" panose="020B0604020202020204" pitchFamily="34" charset="0"/>
                <a:cs typeface="Arial" panose="020B0604020202020204" pitchFamily="34" charset="0"/>
              </a:rPr>
              <a:t> study built on a healthcare survey dataset of 5,190 individuals. It examines the relationship between doctor visit frequency and a range of demographic, socioeconomic, and health-related variables, including age, gender, income, chronic illness status, self-rated health, and insurance/subsidy coverage.</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The analysis follows a structured pipeline — starting with data cleaning and preprocessing (including deduplication and feature engineering), moving through in-depth exploratory analysis with statistical significance testing, and culminating in predictive </a:t>
            </a:r>
            <a:r>
              <a:rPr lang="en-GB" dirty="0" err="1">
                <a:latin typeface="Arial" panose="020B0604020202020204" pitchFamily="34" charset="0"/>
                <a:cs typeface="Arial" panose="020B0604020202020204" pitchFamily="34" charset="0"/>
              </a:rPr>
              <a:t>modeling</a:t>
            </a:r>
            <a:r>
              <a:rPr lang="en-GB" dirty="0">
                <a:latin typeface="Arial" panose="020B0604020202020204" pitchFamily="34" charset="0"/>
                <a:cs typeface="Arial" panose="020B0604020202020204" pitchFamily="34" charset="0"/>
              </a:rPr>
              <a:t> using Logistic Regression, Poisson Regression, and Random Forest classifiers to identify the strongest drivers of healthcare utilization. These findings reveal that most individuals visit a doctor rarely or not at all, while a small, identifiable subgroup — typically those with limiting chronic conditions or poor self-rated health — accounts for a disproportionate share of consultations.</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Beyond the technical analysis, these insights are translated into actionable recommendations for healthcare providers, insurers, and policymakers. The deliverables include a fully documented </a:t>
            </a:r>
            <a:r>
              <a:rPr lang="en-GB" dirty="0" err="1">
                <a:latin typeface="Arial" panose="020B0604020202020204" pitchFamily="34" charset="0"/>
                <a:cs typeface="Arial" panose="020B0604020202020204" pitchFamily="34" charset="0"/>
              </a:rPr>
              <a:t>Jupyter</a:t>
            </a:r>
            <a:r>
              <a:rPr lang="en-GB" dirty="0">
                <a:latin typeface="Arial" panose="020B0604020202020204" pitchFamily="34" charset="0"/>
                <a:cs typeface="Arial" panose="020B0604020202020204" pitchFamily="34" charset="0"/>
              </a:rPr>
              <a:t> notebook, an executed version with all visualizations and outputs, and a standalone HTML report for easy sharing — making the project accessible to both technical and non-technical stakeholders.</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60679" y="1318605"/>
            <a:ext cx="11470641" cy="4671219"/>
          </a:xfrm>
        </p:spPr>
        <p:txBody>
          <a:bodyPr>
            <a:normAutofit/>
          </a:bodyPr>
          <a:lstStyle/>
          <a:p>
            <a:pPr algn="just">
              <a:lnSpc>
                <a:spcPct val="150000"/>
              </a:lnSpc>
              <a:buClr>
                <a:schemeClr val="tx1"/>
              </a:buClr>
              <a:buFont typeface="Wingdings" panose="05000000000000000000" pitchFamily="2" charset="2"/>
              <a:buChar char="Ø"/>
            </a:pPr>
            <a:r>
              <a:rPr lang="en-GB" sz="1800" dirty="0"/>
              <a:t>🏛️ </a:t>
            </a:r>
            <a:r>
              <a:rPr lang="en-GB" sz="1800" b="1" dirty="0"/>
              <a:t>Healthcare Policy Makers</a:t>
            </a:r>
            <a:r>
              <a:rPr lang="en-GB" sz="1800" dirty="0"/>
              <a:t> — plan resource allocation based on utilization patterns</a:t>
            </a:r>
          </a:p>
          <a:p>
            <a:pPr algn="just">
              <a:lnSpc>
                <a:spcPct val="150000"/>
              </a:lnSpc>
              <a:buClr>
                <a:schemeClr val="tx1"/>
              </a:buClr>
              <a:buFont typeface="Wingdings" panose="05000000000000000000" pitchFamily="2" charset="2"/>
              <a:buChar char="Ø"/>
            </a:pPr>
            <a:r>
              <a:rPr lang="en-GB" sz="1800" dirty="0"/>
              <a:t>🏥 </a:t>
            </a:r>
            <a:r>
              <a:rPr lang="en-GB" sz="1800" b="1" dirty="0"/>
              <a:t>Hospital / Clinic Administrators</a:t>
            </a:r>
            <a:r>
              <a:rPr lang="en-GB" sz="1800" dirty="0"/>
              <a:t> — identify high-need patients for proactive care programs</a:t>
            </a:r>
          </a:p>
          <a:p>
            <a:pPr algn="just">
              <a:lnSpc>
                <a:spcPct val="150000"/>
              </a:lnSpc>
              <a:buClr>
                <a:schemeClr val="tx1"/>
              </a:buClr>
              <a:buFont typeface="Wingdings" panose="05000000000000000000" pitchFamily="2" charset="2"/>
              <a:buChar char="Ø"/>
            </a:pPr>
            <a:r>
              <a:rPr lang="en-GB" sz="1800" dirty="0"/>
              <a:t>💳 </a:t>
            </a:r>
            <a:r>
              <a:rPr lang="en-GB" sz="1800" b="1" dirty="0"/>
              <a:t>Health Insurance Providers</a:t>
            </a:r>
            <a:r>
              <a:rPr lang="en-GB" sz="1800" dirty="0"/>
              <a:t> — understand how coverage type affects visit frequency &amp; cost</a:t>
            </a:r>
          </a:p>
          <a:p>
            <a:pPr algn="just">
              <a:lnSpc>
                <a:spcPct val="150000"/>
              </a:lnSpc>
              <a:buClr>
                <a:schemeClr val="tx1"/>
              </a:buClr>
              <a:buFont typeface="Wingdings" panose="05000000000000000000" pitchFamily="2" charset="2"/>
              <a:buChar char="Ø"/>
            </a:pPr>
            <a:r>
              <a:rPr lang="en-GB" sz="1800" dirty="0"/>
              <a:t>🔬 </a:t>
            </a:r>
            <a:r>
              <a:rPr lang="en-GB" sz="1800" b="1" dirty="0"/>
              <a:t>Public Health Researchers</a:t>
            </a:r>
            <a:r>
              <a:rPr lang="en-GB" sz="1800" dirty="0"/>
              <a:t> — study healthcare access and utilization drivers</a:t>
            </a:r>
          </a:p>
          <a:p>
            <a:pPr algn="just">
              <a:lnSpc>
                <a:spcPct val="150000"/>
              </a:lnSpc>
              <a:buClr>
                <a:schemeClr val="tx1"/>
              </a:buClr>
              <a:buFont typeface="Wingdings" panose="05000000000000000000" pitchFamily="2" charset="2"/>
              <a:buChar char="Ø"/>
            </a:pPr>
            <a:r>
              <a:rPr lang="en-GB" sz="1800" dirty="0"/>
              <a:t>🏢 </a:t>
            </a:r>
            <a:r>
              <a:rPr lang="en-GB" sz="1800" b="1" dirty="0"/>
              <a:t>Government Health Departments</a:t>
            </a:r>
            <a:r>
              <a:rPr lang="en-GB" sz="1800" dirty="0"/>
              <a:t> — design subsidy programs (e.g., free treatment schemes)</a:t>
            </a:r>
          </a:p>
          <a:p>
            <a:pPr algn="just">
              <a:lnSpc>
                <a:spcPct val="150000"/>
              </a:lnSpc>
              <a:buClr>
                <a:schemeClr val="tx1"/>
              </a:buClr>
              <a:buFont typeface="Wingdings" panose="05000000000000000000" pitchFamily="2" charset="2"/>
              <a:buChar char="Ø"/>
            </a:pPr>
            <a:r>
              <a:rPr lang="en-GB" sz="1800" dirty="0"/>
              <a:t>📊 </a:t>
            </a:r>
            <a:r>
              <a:rPr lang="en-GB" sz="1800" b="1" dirty="0"/>
              <a:t>Data Analysts / Data Scientists</a:t>
            </a:r>
            <a:r>
              <a:rPr lang="en-GB" sz="1800" dirty="0"/>
              <a:t> — reference case study for utilization/count-data </a:t>
            </a:r>
            <a:r>
              <a:rPr lang="en-GB" sz="1800" dirty="0" err="1"/>
              <a:t>modeling</a:t>
            </a:r>
            <a:endParaRPr lang="en-GB" sz="1800" dirty="0"/>
          </a:p>
          <a:p>
            <a:pPr algn="just">
              <a:lnSpc>
                <a:spcPct val="150000"/>
              </a:lnSpc>
              <a:buClr>
                <a:schemeClr val="tx1"/>
              </a:buClr>
              <a:buFont typeface="Wingdings" panose="05000000000000000000" pitchFamily="2" charset="2"/>
              <a:buChar char="Ø"/>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45347" y="328985"/>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C21C85F9-EF03-5C3D-1DB0-BC9CF86FB45C}"/>
              </a:ext>
            </a:extLst>
          </p:cNvPr>
          <p:cNvGraphicFramePr>
            <a:graphicFrameLocks noGrp="1"/>
          </p:cNvGraphicFramePr>
          <p:nvPr>
            <p:extLst>
              <p:ext uri="{D42A27DB-BD31-4B8C-83A1-F6EECF244321}">
                <p14:modId xmlns:p14="http://schemas.microsoft.com/office/powerpoint/2010/main" val="326492310"/>
              </p:ext>
            </p:extLst>
          </p:nvPr>
        </p:nvGraphicFramePr>
        <p:xfrm>
          <a:off x="2220916" y="1729073"/>
          <a:ext cx="8741609" cy="3953349"/>
        </p:xfrm>
        <a:graphic>
          <a:graphicData uri="http://schemas.openxmlformats.org/drawingml/2006/table">
            <a:tbl>
              <a:tblPr>
                <a:tableStyleId>{616DA210-FB5B-4158-B5E0-FEB733F419BA}</a:tableStyleId>
              </a:tblPr>
              <a:tblGrid>
                <a:gridCol w="2505196">
                  <a:extLst>
                    <a:ext uri="{9D8B030D-6E8A-4147-A177-3AD203B41FA5}">
                      <a16:colId xmlns:a16="http://schemas.microsoft.com/office/drawing/2014/main" val="1355740138"/>
                    </a:ext>
                  </a:extLst>
                </a:gridCol>
                <a:gridCol w="3071973">
                  <a:extLst>
                    <a:ext uri="{9D8B030D-6E8A-4147-A177-3AD203B41FA5}">
                      <a16:colId xmlns:a16="http://schemas.microsoft.com/office/drawing/2014/main" val="2093755682"/>
                    </a:ext>
                  </a:extLst>
                </a:gridCol>
                <a:gridCol w="3164440">
                  <a:extLst>
                    <a:ext uri="{9D8B030D-6E8A-4147-A177-3AD203B41FA5}">
                      <a16:colId xmlns:a16="http://schemas.microsoft.com/office/drawing/2014/main" val="3700526722"/>
                    </a:ext>
                  </a:extLst>
                </a:gridCol>
              </a:tblGrid>
              <a:tr h="310515">
                <a:tc>
                  <a:txBody>
                    <a:bodyPr/>
                    <a:lstStyle/>
                    <a:p>
                      <a:pPr>
                        <a:buNone/>
                      </a:pPr>
                      <a:r>
                        <a:rPr lang="en-IN" sz="2000" b="1" dirty="0"/>
                        <a:t>Category</a:t>
                      </a:r>
                    </a:p>
                  </a:txBody>
                  <a:tcPr marL="77629" marR="77629" marT="38814" marB="38814" anchor="ctr"/>
                </a:tc>
                <a:tc>
                  <a:txBody>
                    <a:bodyPr/>
                    <a:lstStyle/>
                    <a:p>
                      <a:pPr>
                        <a:buNone/>
                      </a:pPr>
                      <a:r>
                        <a:rPr lang="en-IN" sz="2000" b="1" dirty="0"/>
                        <a:t>Tool / Technology</a:t>
                      </a:r>
                    </a:p>
                  </a:txBody>
                  <a:tcPr marL="77629" marR="77629" marT="38814" marB="38814" anchor="ctr"/>
                </a:tc>
                <a:tc>
                  <a:txBody>
                    <a:bodyPr/>
                    <a:lstStyle/>
                    <a:p>
                      <a:pPr>
                        <a:buNone/>
                      </a:pPr>
                      <a:r>
                        <a:rPr lang="en-IN" sz="2000" b="1" dirty="0"/>
                        <a:t>Purpose</a:t>
                      </a:r>
                    </a:p>
                  </a:txBody>
                  <a:tcPr marL="77629" marR="77629" marT="38814" marB="38814" anchor="ctr"/>
                </a:tc>
                <a:extLst>
                  <a:ext uri="{0D108BD9-81ED-4DB2-BD59-A6C34878D82A}">
                    <a16:rowId xmlns:a16="http://schemas.microsoft.com/office/drawing/2014/main" val="2568739106"/>
                  </a:ext>
                </a:extLst>
              </a:tr>
              <a:tr h="543401">
                <a:tc>
                  <a:txBody>
                    <a:bodyPr/>
                    <a:lstStyle/>
                    <a:p>
                      <a:pPr>
                        <a:buNone/>
                      </a:pPr>
                      <a:r>
                        <a:rPr lang="en-IN" sz="1500" b="1" dirty="0"/>
                        <a:t>Language</a:t>
                      </a:r>
                      <a:endParaRPr lang="en-IN" sz="1500" dirty="0"/>
                    </a:p>
                  </a:txBody>
                  <a:tcPr marL="77629" marR="77629" marT="38814" marB="38814" anchor="ctr"/>
                </a:tc>
                <a:tc>
                  <a:txBody>
                    <a:bodyPr/>
                    <a:lstStyle/>
                    <a:p>
                      <a:pPr>
                        <a:buNone/>
                      </a:pPr>
                      <a:r>
                        <a:rPr lang="en-IN" sz="1500"/>
                        <a:t>Python</a:t>
                      </a:r>
                    </a:p>
                  </a:txBody>
                  <a:tcPr marL="77629" marR="77629" marT="38814" marB="38814" anchor="ctr"/>
                </a:tc>
                <a:tc>
                  <a:txBody>
                    <a:bodyPr/>
                    <a:lstStyle/>
                    <a:p>
                      <a:pPr>
                        <a:buNone/>
                      </a:pPr>
                      <a:r>
                        <a:rPr lang="en-IN" sz="1500"/>
                        <a:t>Core programming language</a:t>
                      </a:r>
                    </a:p>
                  </a:txBody>
                  <a:tcPr marL="77629" marR="77629" marT="38814" marB="38814" anchor="ctr"/>
                </a:tc>
                <a:extLst>
                  <a:ext uri="{0D108BD9-81ED-4DB2-BD59-A6C34878D82A}">
                    <a16:rowId xmlns:a16="http://schemas.microsoft.com/office/drawing/2014/main" val="2315563830"/>
                  </a:ext>
                </a:extLst>
              </a:tr>
              <a:tr h="543401">
                <a:tc>
                  <a:txBody>
                    <a:bodyPr/>
                    <a:lstStyle/>
                    <a:p>
                      <a:pPr>
                        <a:buNone/>
                      </a:pPr>
                      <a:r>
                        <a:rPr lang="en-IN" sz="1500" b="1"/>
                        <a:t>Notebook Environment</a:t>
                      </a:r>
                      <a:endParaRPr lang="en-IN" sz="1500"/>
                    </a:p>
                  </a:txBody>
                  <a:tcPr marL="77629" marR="77629" marT="38814" marB="38814" anchor="ctr"/>
                </a:tc>
                <a:tc>
                  <a:txBody>
                    <a:bodyPr/>
                    <a:lstStyle/>
                    <a:p>
                      <a:pPr>
                        <a:buNone/>
                      </a:pPr>
                      <a:r>
                        <a:rPr lang="en-IN" sz="1500"/>
                        <a:t>Jupyter Notebook (.ipynb)</a:t>
                      </a:r>
                    </a:p>
                  </a:txBody>
                  <a:tcPr marL="77629" marR="77629" marT="38814" marB="38814" anchor="ctr"/>
                </a:tc>
                <a:tc>
                  <a:txBody>
                    <a:bodyPr/>
                    <a:lstStyle/>
                    <a:p>
                      <a:pPr>
                        <a:buNone/>
                      </a:pPr>
                      <a:r>
                        <a:rPr lang="en-IN" sz="1500"/>
                        <a:t>Interactive development &amp; EDA</a:t>
                      </a:r>
                    </a:p>
                  </a:txBody>
                  <a:tcPr marL="77629" marR="77629" marT="38814" marB="38814" anchor="ctr"/>
                </a:tc>
                <a:extLst>
                  <a:ext uri="{0D108BD9-81ED-4DB2-BD59-A6C34878D82A}">
                    <a16:rowId xmlns:a16="http://schemas.microsoft.com/office/drawing/2014/main" val="4054885420"/>
                  </a:ext>
                </a:extLst>
              </a:tr>
              <a:tr h="776287">
                <a:tc>
                  <a:txBody>
                    <a:bodyPr/>
                    <a:lstStyle/>
                    <a:p>
                      <a:pPr>
                        <a:buNone/>
                      </a:pPr>
                      <a:r>
                        <a:rPr lang="en-IN" sz="1500" b="1"/>
                        <a:t>Data Handling</a:t>
                      </a:r>
                      <a:endParaRPr lang="en-IN" sz="1500"/>
                    </a:p>
                  </a:txBody>
                  <a:tcPr marL="77629" marR="77629" marT="38814" marB="38814" anchor="ctr"/>
                </a:tc>
                <a:tc>
                  <a:txBody>
                    <a:bodyPr/>
                    <a:lstStyle/>
                    <a:p>
                      <a:pPr>
                        <a:buNone/>
                      </a:pPr>
                      <a:r>
                        <a:rPr lang="en-IN" sz="1500"/>
                        <a:t>pandas, numpy</a:t>
                      </a:r>
                    </a:p>
                  </a:txBody>
                  <a:tcPr marL="77629" marR="77629" marT="38814" marB="38814" anchor="ctr"/>
                </a:tc>
                <a:tc>
                  <a:txBody>
                    <a:bodyPr/>
                    <a:lstStyle/>
                    <a:p>
                      <a:pPr>
                        <a:buNone/>
                      </a:pPr>
                      <a:r>
                        <a:rPr lang="en-IN" sz="1500"/>
                        <a:t>Data cleaning, transformation, computations</a:t>
                      </a:r>
                    </a:p>
                  </a:txBody>
                  <a:tcPr marL="77629" marR="77629" marT="38814" marB="38814" anchor="ctr"/>
                </a:tc>
                <a:extLst>
                  <a:ext uri="{0D108BD9-81ED-4DB2-BD59-A6C34878D82A}">
                    <a16:rowId xmlns:a16="http://schemas.microsoft.com/office/drawing/2014/main" val="947985640"/>
                  </a:ext>
                </a:extLst>
              </a:tr>
              <a:tr h="310515">
                <a:tc>
                  <a:txBody>
                    <a:bodyPr/>
                    <a:lstStyle/>
                    <a:p>
                      <a:pPr>
                        <a:buNone/>
                      </a:pPr>
                      <a:r>
                        <a:rPr lang="en-IN" sz="1500" b="1"/>
                        <a:t>Visualization</a:t>
                      </a:r>
                      <a:endParaRPr lang="en-IN" sz="1500"/>
                    </a:p>
                  </a:txBody>
                  <a:tcPr marL="77629" marR="77629" marT="38814" marB="38814" anchor="ctr"/>
                </a:tc>
                <a:tc>
                  <a:txBody>
                    <a:bodyPr/>
                    <a:lstStyle/>
                    <a:p>
                      <a:pPr>
                        <a:buNone/>
                      </a:pPr>
                      <a:r>
                        <a:rPr lang="en-IN" sz="1500"/>
                        <a:t>matplotlib, seaborn</a:t>
                      </a:r>
                    </a:p>
                  </a:txBody>
                  <a:tcPr marL="77629" marR="77629" marT="38814" marB="38814" anchor="ctr"/>
                </a:tc>
                <a:tc>
                  <a:txBody>
                    <a:bodyPr/>
                    <a:lstStyle/>
                    <a:p>
                      <a:pPr>
                        <a:buNone/>
                      </a:pPr>
                      <a:r>
                        <a:rPr lang="en-IN" sz="1500"/>
                        <a:t>Charts, plots, dashboards</a:t>
                      </a:r>
                    </a:p>
                  </a:txBody>
                  <a:tcPr marL="77629" marR="77629" marT="38814" marB="38814" anchor="ctr"/>
                </a:tc>
                <a:extLst>
                  <a:ext uri="{0D108BD9-81ED-4DB2-BD59-A6C34878D82A}">
                    <a16:rowId xmlns:a16="http://schemas.microsoft.com/office/drawing/2014/main" val="2209293399"/>
                  </a:ext>
                </a:extLst>
              </a:tr>
              <a:tr h="776287">
                <a:tc>
                  <a:txBody>
                    <a:bodyPr/>
                    <a:lstStyle/>
                    <a:p>
                      <a:pPr>
                        <a:buNone/>
                      </a:pPr>
                      <a:r>
                        <a:rPr lang="en-IN" sz="1500" b="1"/>
                        <a:t>Statistics</a:t>
                      </a:r>
                      <a:endParaRPr lang="en-IN" sz="1500"/>
                    </a:p>
                  </a:txBody>
                  <a:tcPr marL="77629" marR="77629" marT="38814" marB="38814" anchor="ctr"/>
                </a:tc>
                <a:tc>
                  <a:txBody>
                    <a:bodyPr/>
                    <a:lstStyle/>
                    <a:p>
                      <a:pPr>
                        <a:buNone/>
                      </a:pPr>
                      <a:r>
                        <a:rPr lang="en-IN" sz="1500"/>
                        <a:t>scipy.stats</a:t>
                      </a:r>
                    </a:p>
                  </a:txBody>
                  <a:tcPr marL="77629" marR="77629" marT="38814" marB="38814" anchor="ctr"/>
                </a:tc>
                <a:tc>
                  <a:txBody>
                    <a:bodyPr/>
                    <a:lstStyle/>
                    <a:p>
                      <a:pPr>
                        <a:buNone/>
                      </a:pPr>
                      <a:r>
                        <a:rPr lang="en-GB" sz="1500"/>
                        <a:t>Significance tests (Mann-Whitney U, Kruskal-Wallis, Spearman)</a:t>
                      </a:r>
                    </a:p>
                  </a:txBody>
                  <a:tcPr marL="77629" marR="77629" marT="38814" marB="38814" anchor="ctr"/>
                </a:tc>
                <a:extLst>
                  <a:ext uri="{0D108BD9-81ED-4DB2-BD59-A6C34878D82A}">
                    <a16:rowId xmlns:a16="http://schemas.microsoft.com/office/drawing/2014/main" val="3631221892"/>
                  </a:ext>
                </a:extLst>
              </a:tr>
              <a:tr h="310515">
                <a:tc>
                  <a:txBody>
                    <a:bodyPr/>
                    <a:lstStyle/>
                    <a:p>
                      <a:pPr>
                        <a:buNone/>
                      </a:pPr>
                      <a:r>
                        <a:rPr lang="en-IN" sz="1500" b="1"/>
                        <a:t>Data Format</a:t>
                      </a:r>
                      <a:endParaRPr lang="en-IN" sz="1500"/>
                    </a:p>
                  </a:txBody>
                  <a:tcPr marL="77629" marR="77629" marT="38814" marB="38814" anchor="ctr"/>
                </a:tc>
                <a:tc>
                  <a:txBody>
                    <a:bodyPr/>
                    <a:lstStyle/>
                    <a:p>
                      <a:pPr>
                        <a:buNone/>
                      </a:pPr>
                      <a:r>
                        <a:rPr lang="en-IN" sz="1500"/>
                        <a:t>CSV</a:t>
                      </a:r>
                    </a:p>
                  </a:txBody>
                  <a:tcPr marL="77629" marR="77629" marT="38814" marB="38814" anchor="ctr"/>
                </a:tc>
                <a:tc>
                  <a:txBody>
                    <a:bodyPr/>
                    <a:lstStyle/>
                    <a:p>
                      <a:pPr>
                        <a:buNone/>
                      </a:pPr>
                      <a:r>
                        <a:rPr lang="en-IN" sz="1500"/>
                        <a:t>Raw source dataset</a:t>
                      </a:r>
                    </a:p>
                  </a:txBody>
                  <a:tcPr marL="77629" marR="77629" marT="38814" marB="38814" anchor="ctr"/>
                </a:tc>
                <a:extLst>
                  <a:ext uri="{0D108BD9-81ED-4DB2-BD59-A6C34878D82A}">
                    <a16:rowId xmlns:a16="http://schemas.microsoft.com/office/drawing/2014/main" val="4172629972"/>
                  </a:ext>
                </a:extLst>
              </a:tr>
              <a:tr h="310515">
                <a:tc>
                  <a:txBody>
                    <a:bodyPr/>
                    <a:lstStyle/>
                    <a:p>
                      <a:pPr>
                        <a:buNone/>
                      </a:pPr>
                      <a:r>
                        <a:rPr lang="en-IN" sz="1500" b="1"/>
                        <a:t>Output Format</a:t>
                      </a:r>
                      <a:endParaRPr lang="en-IN" sz="1500"/>
                    </a:p>
                  </a:txBody>
                  <a:tcPr marL="77629" marR="77629" marT="38814" marB="38814" anchor="ctr"/>
                </a:tc>
                <a:tc>
                  <a:txBody>
                    <a:bodyPr/>
                    <a:lstStyle/>
                    <a:p>
                      <a:pPr>
                        <a:buNone/>
                      </a:pPr>
                      <a:r>
                        <a:rPr lang="en-IN" sz="1500"/>
                        <a:t>HTML</a:t>
                      </a:r>
                    </a:p>
                  </a:txBody>
                  <a:tcPr marL="77629" marR="77629" marT="38814" marB="38814" anchor="ctr"/>
                </a:tc>
                <a:tc>
                  <a:txBody>
                    <a:bodyPr/>
                    <a:lstStyle/>
                    <a:p>
                      <a:pPr>
                        <a:buNone/>
                      </a:pPr>
                      <a:r>
                        <a:rPr lang="en-IN" sz="1500" dirty="0"/>
                        <a:t>Shareable report export</a:t>
                      </a:r>
                    </a:p>
                  </a:txBody>
                  <a:tcPr marL="77629" marR="77629" marT="38814" marB="38814" anchor="ctr"/>
                </a:tc>
                <a:extLst>
                  <a:ext uri="{0D108BD9-81ED-4DB2-BD59-A6C34878D82A}">
                    <a16:rowId xmlns:a16="http://schemas.microsoft.com/office/drawing/2014/main" val="2911864506"/>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95269" y="17754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320982" y="6487411"/>
            <a:ext cx="8751863" cy="370589"/>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b="0" u="sng" dirty="0">
                <a:solidFill>
                  <a:srgbClr val="0070C0"/>
                </a:solidFill>
              </a:rPr>
              <a:t>https://github.com/AaryaMZP/Healthcare_Analytics_Doctor_Visits.git</a:t>
            </a:r>
          </a:p>
        </p:txBody>
      </p:sp>
      <p:pic>
        <p:nvPicPr>
          <p:cNvPr id="3074" name="Picture 2" descr="The Zero-Inflation Reality of Healthcare Utilisation">
            <a:extLst>
              <a:ext uri="{FF2B5EF4-FFF2-40B4-BE49-F238E27FC236}">
                <a16:creationId xmlns:a16="http://schemas.microsoft.com/office/drawing/2014/main" id="{376D9A10-D4E3-BDA3-3B9D-2206DFBCF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082" y="951036"/>
            <a:ext cx="7191818" cy="275873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Gender &amp; Age Dynamics in Healthcare Utilisation">
            <a:extLst>
              <a:ext uri="{FF2B5EF4-FFF2-40B4-BE49-F238E27FC236}">
                <a16:creationId xmlns:a16="http://schemas.microsoft.com/office/drawing/2014/main" id="{A33968E6-8662-4C31-BDA5-9FBBCC8389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6091" y="3799589"/>
            <a:ext cx="8630055" cy="2598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DCCD-F38A-8B7B-C076-4D32166649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D24CBF1-8EC3-FC75-7FE5-0FA5C424DB6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93FA876-F68F-AA99-D1E0-1026B4A7C455}"/>
              </a:ext>
            </a:extLst>
          </p:cNvPr>
          <p:cNvSpPr>
            <a:spLocks noGrp="1"/>
          </p:cNvSpPr>
          <p:nvPr>
            <p:ph type="title"/>
          </p:nvPr>
        </p:nvSpPr>
        <p:spPr>
          <a:xfrm>
            <a:off x="110878" y="13182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317420A-04CC-2764-98C0-D26486E30D2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5846C2D-90B6-FC74-5200-30C8FA891ED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BB56A73-E6A1-B76F-ED14-371CCF3C0678}"/>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2052" name="Picture 4" descr="Illness Burden Drives Doctor Visits">
            <a:extLst>
              <a:ext uri="{FF2B5EF4-FFF2-40B4-BE49-F238E27FC236}">
                <a16:creationId xmlns:a16="http://schemas.microsoft.com/office/drawing/2014/main" id="{C8372B16-AD2F-DA2E-B115-161A331A7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1788" y="259668"/>
            <a:ext cx="7340130" cy="272961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ocioeconomic Factors &amp; Insurance Coverage">
            <a:extLst>
              <a:ext uri="{FF2B5EF4-FFF2-40B4-BE49-F238E27FC236}">
                <a16:creationId xmlns:a16="http://schemas.microsoft.com/office/drawing/2014/main" id="{73CDB676-ABB8-5445-DAA9-A921DC378E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7010" y="3045097"/>
            <a:ext cx="10270733" cy="3091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94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5228-4EDF-F0B7-D64B-3239560E51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19A23A5-15D0-D5D5-B5EA-F46C63FD56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A1CCC32-C714-587D-279E-AE125D07C5A6}"/>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9D24D48-82AF-7832-3114-69C0C1171D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C17C8C4-4BAB-2684-E983-5991B7747D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BF0DEF4-E9A4-BB54-E49F-528FEAC58542}"/>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4098" name="Picture 2" descr="Chronic Illness Compounds Healthcare Demand">
            <a:extLst>
              <a:ext uri="{FF2B5EF4-FFF2-40B4-BE49-F238E27FC236}">
                <a16:creationId xmlns:a16="http://schemas.microsoft.com/office/drawing/2014/main" id="{A9D2B391-2008-1F7D-422D-F3DE7251F3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5734" y="308225"/>
            <a:ext cx="6984527" cy="255826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duced Activity Days — The Sharpest Clinical Trigger">
            <a:extLst>
              <a:ext uri="{FF2B5EF4-FFF2-40B4-BE49-F238E27FC236}">
                <a16:creationId xmlns:a16="http://schemas.microsoft.com/office/drawing/2014/main" id="{7E359EF6-CEFC-32B5-0A68-5FB1ED5FA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762" y="3131740"/>
            <a:ext cx="8342616" cy="3055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56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3648-E0A4-5300-CE8B-E2667DF0C7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805FB5F-57BC-AEEA-85B8-CE9063B1DE3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F7AD088-ED36-1F08-ACBF-6C90550B6D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54CFD60-BD8E-B529-6C84-CCB5146DD21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EF65A44-81C7-73B5-6278-667C96CD75B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E496836-6BC9-208C-CA37-11CF95B598DE}"/>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5122" name="Picture 2" descr="Full Feature Correlation Matrix">
            <a:extLst>
              <a:ext uri="{FF2B5EF4-FFF2-40B4-BE49-F238E27FC236}">
                <a16:creationId xmlns:a16="http://schemas.microsoft.com/office/drawing/2014/main" id="{30F93C56-34C5-7087-8232-2F0811967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3214" y="1201586"/>
            <a:ext cx="5881902" cy="4773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13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8A2B-C8A6-0FA5-5224-57D960E71D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12D4E2-EAD4-2783-A1E0-5BAEC72062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736089B-CCA5-16B7-74A8-23F923E78D65}"/>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81FB330-7C5B-FB98-2359-2E36D8FC1F4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AC69AF4-F5CE-F3CD-6C34-AA9339B49A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5A23018-08BF-3099-C1C3-995A3D0854F6}"/>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6146" name="Picture 2" descr="Self-Rated Health: Where Perception Meets Behaviour">
            <a:extLst>
              <a:ext uri="{FF2B5EF4-FFF2-40B4-BE49-F238E27FC236}">
                <a16:creationId xmlns:a16="http://schemas.microsoft.com/office/drawing/2014/main" id="{37DEC183-2E2A-34D4-C26E-F3FEF3713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082" y="131829"/>
            <a:ext cx="8321154" cy="304783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rofiling High-Utilisation Patients (≥3 Visits)">
            <a:extLst>
              <a:ext uri="{FF2B5EF4-FFF2-40B4-BE49-F238E27FC236}">
                <a16:creationId xmlns:a16="http://schemas.microsoft.com/office/drawing/2014/main" id="{B387F7EE-7312-CFD0-B4FF-C312549B0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0430" y="3216820"/>
            <a:ext cx="10435119" cy="3126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87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0B3EF-DF1A-8146-8925-3754A483D0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48B730-9206-5945-F864-46EADBC0FD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260591-124A-17B0-C939-74CA3D14D115}"/>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20101D2-0B3D-BAAE-4646-E02E759DB91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4CD39A9-A627-154B-77E0-2BDA73B9140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0FF46A0-AAD4-D152-BB64-A4952A18724A}"/>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3" name="Picture 2">
            <a:extLst>
              <a:ext uri="{FF2B5EF4-FFF2-40B4-BE49-F238E27FC236}">
                <a16:creationId xmlns:a16="http://schemas.microsoft.com/office/drawing/2014/main" id="{BAE96401-BA2C-2D3F-B76D-DAEDC8EA18EB}"/>
              </a:ext>
            </a:extLst>
          </p:cNvPr>
          <p:cNvPicPr>
            <a:picLocks noChangeAspect="1"/>
          </p:cNvPicPr>
          <p:nvPr/>
        </p:nvPicPr>
        <p:blipFill>
          <a:blip r:embed="rId3"/>
          <a:stretch>
            <a:fillRect/>
          </a:stretch>
        </p:blipFill>
        <p:spPr>
          <a:xfrm>
            <a:off x="2434976" y="1018849"/>
            <a:ext cx="8393026" cy="5041950"/>
          </a:xfrm>
          <a:prstGeom prst="rect">
            <a:avLst/>
          </a:prstGeom>
        </p:spPr>
      </p:pic>
    </p:spTree>
    <p:extLst>
      <p:ext uri="{BB962C8B-B14F-4D97-AF65-F5344CB8AC3E}">
        <p14:creationId xmlns:p14="http://schemas.microsoft.com/office/powerpoint/2010/main" val="2828735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E704E-EBB8-C4CC-FA3E-EB71F2A2DB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978489-2943-65FB-F38F-5D61505DDF0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8259233-A333-FCE0-D099-9AC1516D9414}"/>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B4E200F-F146-55BD-8B40-F2E658D25B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36FF41D-6A4D-0982-BA7F-FBAE4426662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39185CE-58F5-F2B5-9687-0B21BB8859AE}"/>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7170" name="Picture 2" descr="Feature Distributions: Visitors vs. Non-Visitors (Violin Plots)">
            <a:extLst>
              <a:ext uri="{FF2B5EF4-FFF2-40B4-BE49-F238E27FC236}">
                <a16:creationId xmlns:a16="http://schemas.microsoft.com/office/drawing/2014/main" id="{05F8D630-3CCD-64F0-0468-A6EE20455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762" y="830997"/>
            <a:ext cx="9109752" cy="492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388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7770E-E4F0-0E24-D0F2-E2FD9B2AE9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6679CDD-E003-E162-59AD-4A7CAB3F027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03D6509-DE40-7B05-5EAA-C8CB5E7CCF30}"/>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CED690C-3F76-6E78-65B4-84B55FF20FF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10A175F-769B-2B37-2876-0E83033F2F47}"/>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8196" name="Picture 4" descr="Logistic &amp; Poisson Regression — Interpretable Coefficients">
            <a:extLst>
              <a:ext uri="{FF2B5EF4-FFF2-40B4-BE49-F238E27FC236}">
                <a16:creationId xmlns:a16="http://schemas.microsoft.com/office/drawing/2014/main" id="{BAAAB6F0-0F81-937A-2AC1-994E88E81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0858" y="193040"/>
            <a:ext cx="7675334" cy="314808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Random Forest Feature Importance">
            <a:extLst>
              <a:ext uri="{FF2B5EF4-FFF2-40B4-BE49-F238E27FC236}">
                <a16:creationId xmlns:a16="http://schemas.microsoft.com/office/drawing/2014/main" id="{2BE6FB7C-D558-2442-D4CD-5AA0921AED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072" y="3429000"/>
            <a:ext cx="8045414" cy="274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50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C775F-A1BA-82A9-7F1F-A2B5DF9F0E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A3D3E9-65F7-23D8-73C5-539636BEB16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5CD07F7-A759-C72D-9D0C-1787B10FCAE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39CA152-F0DE-5558-C0C1-9AF9E10CA6A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25B05B9-5247-5981-C556-F949DC39617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882F8E81-1B60-9F9A-446A-C5849973C621}"/>
              </a:ext>
            </a:extLst>
          </p:cNvPr>
          <p:cNvSpPr txBox="1">
            <a:spLocks/>
          </p:cNvSpPr>
          <p:nvPr/>
        </p:nvSpPr>
        <p:spPr>
          <a:xfrm>
            <a:off x="320982" y="6248651"/>
            <a:ext cx="8751863" cy="4775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0" u="sng" dirty="0">
                <a:solidFill>
                  <a:srgbClr val="0070C0"/>
                </a:solidFill>
              </a:rPr>
              <a:t>https://github.com/AaryaMZP/Healthcare_Analytics_Doctor_Visits.git</a:t>
            </a:r>
          </a:p>
        </p:txBody>
      </p:sp>
      <p:pic>
        <p:nvPicPr>
          <p:cNvPr id="1028" name="Picture 4" descr="ROC Curves &amp; Confusion Matrices">
            <a:extLst>
              <a:ext uri="{FF2B5EF4-FFF2-40B4-BE49-F238E27FC236}">
                <a16:creationId xmlns:a16="http://schemas.microsoft.com/office/drawing/2014/main" id="{E8A04212-1081-D11A-BAB9-4E71B9A4AB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4445" y="1829977"/>
            <a:ext cx="10106346" cy="287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84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596</TotalTime>
  <Words>744</Words>
  <Application>Microsoft Office PowerPoint</Application>
  <PresentationFormat>Widescreen</PresentationFormat>
  <Paragraphs>70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EDUNET VOIS FOR TECH-TIRTC AICTE DATA ANALYTICS INTERNSHIP  Healthcare Analytics for Doctor Visits DIY Project</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Aarya Dubey</cp:lastModifiedBy>
  <cp:revision>75</cp:revision>
  <dcterms:created xsi:type="dcterms:W3CDTF">2021-07-11T13:13:15Z</dcterms:created>
  <dcterms:modified xsi:type="dcterms:W3CDTF">2026-09-20T07:49:40Z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